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7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png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pauloesterwitz/PPTX MCP/AI &amp; SAP Consulting Paul Oesterwitz/assets/logo-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2560320" cy="76519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332720" y="594360"/>
            <a:ext cx="146304" cy="146304"/>
          </a:xfrm>
          <a:prstGeom prst="ellipse">
            <a:avLst/>
          </a:prstGeom>
          <a:solidFill>
            <a:srgbClr val="B5179E"/>
          </a:solidFill>
          <a:ln/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10789920" y="594360"/>
            <a:ext cx="146304" cy="146304"/>
          </a:xfrm>
          <a:prstGeom prst="ellipse">
            <a:avLst/>
          </a:prstGeom>
          <a:solidFill>
            <a:srgbClr val="B5179E">
              <a:alpha val="91000"/>
            </a:srgbClr>
          </a:solidFill>
          <a:ln/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11247120" y="594360"/>
            <a:ext cx="146304" cy="146304"/>
          </a:xfrm>
          <a:prstGeom prst="ellipse">
            <a:avLst/>
          </a:prstGeom>
          <a:solidFill>
            <a:srgbClr val="B5179E">
              <a:alpha val="82000"/>
            </a:srgbClr>
          </a:solidFill>
          <a:ln/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10332720" y="1051560"/>
            <a:ext cx="146304" cy="146304"/>
          </a:xfrm>
          <a:prstGeom prst="ellipse">
            <a:avLst/>
          </a:prstGeom>
          <a:solidFill>
            <a:srgbClr val="B5179E">
              <a:alpha val="73000"/>
            </a:srgbClr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10789920" y="1051560"/>
            <a:ext cx="146304" cy="146304"/>
          </a:xfrm>
          <a:prstGeom prst="ellipse">
            <a:avLst/>
          </a:prstGeom>
          <a:solidFill>
            <a:srgbClr val="B5179E">
              <a:alpha val="64000"/>
            </a:srgbClr>
          </a:solidFill>
          <a:ln/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1247120" y="1051560"/>
            <a:ext cx="146304" cy="146304"/>
          </a:xfrm>
          <a:prstGeom prst="ellipse">
            <a:avLst/>
          </a:prstGeom>
          <a:solidFill>
            <a:srgbClr val="B5179E">
              <a:alpha val="55000"/>
            </a:srgbClr>
          </a:solidFill>
          <a:ln/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548640" y="2468880"/>
            <a:ext cx="118872" cy="1143000"/>
          </a:xfrm>
          <a:prstGeom prst="rect">
            <a:avLst/>
          </a:prstGeom>
          <a:solidFill>
            <a:srgbClr val="B5179E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868680" y="2468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517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+++ RAG PROOF-OF-CONCEPT · TECHNICAL OVERVIEW +++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50392" y="2798064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RAG Lab: Six Pipelines, One Benchmark</a:t>
            </a:r>
            <a:endParaRPr lang="en-US" sz="3800" dirty="0"/>
          </a:p>
        </p:txBody>
      </p:sp>
      <p:sp>
        <p:nvSpPr>
          <p:cNvPr id="12" name="Text 9"/>
          <p:cNvSpPr/>
          <p:nvPr/>
        </p:nvSpPr>
        <p:spPr>
          <a:xfrm>
            <a:off x="868680" y="4251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B6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 RAG architectures over one shared PDF corpus — hybrid retrieval, DeepEval scoring, and an interactive Vue dashboard.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68680" y="5074920"/>
            <a:ext cx="1856232" cy="365760"/>
          </a:xfrm>
          <a:prstGeom prst="roundRect">
            <a:avLst>
              <a:gd name="adj" fmla="val 50000"/>
            </a:avLst>
          </a:prstGeom>
          <a:solidFill>
            <a:srgbClr val="343F57"/>
          </a:solidFill>
          <a:ln w="9525">
            <a:solidFill>
              <a:srgbClr val="B5179E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868680" y="5074920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RAG approaches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2889504" y="5074920"/>
            <a:ext cx="2432304" cy="365760"/>
          </a:xfrm>
          <a:prstGeom prst="roundRect">
            <a:avLst>
              <a:gd name="adj" fmla="val 50000"/>
            </a:avLst>
          </a:prstGeom>
          <a:solidFill>
            <a:srgbClr val="343F57"/>
          </a:solidFill>
          <a:ln w="9525">
            <a:solidFill>
              <a:srgbClr val="B5179E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2889504" y="507492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DeepEval · 100 goldens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486400" y="5074920"/>
            <a:ext cx="1760220" cy="365760"/>
          </a:xfrm>
          <a:prstGeom prst="roundRect">
            <a:avLst>
              <a:gd name="adj" fmla="val 50000"/>
            </a:avLst>
          </a:prstGeom>
          <a:solidFill>
            <a:srgbClr val="343F57"/>
          </a:solidFill>
          <a:ln w="9525">
            <a:solidFill>
              <a:srgbClr val="B5179E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5486400" y="5074920"/>
            <a:ext cx="17602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+ Ollama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411212" y="5074920"/>
            <a:ext cx="1760220" cy="365760"/>
          </a:xfrm>
          <a:prstGeom prst="roundRect">
            <a:avLst>
              <a:gd name="adj" fmla="val 50000"/>
            </a:avLst>
          </a:prstGeom>
          <a:solidFill>
            <a:srgbClr val="343F57"/>
          </a:solidFill>
          <a:ln w="9525">
            <a:solidFill>
              <a:srgbClr val="B5179E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7411212" y="5074920"/>
            <a:ext cx="17602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FastAPI + Vue 3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68680" y="6126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6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&amp; SAP Consulting Paul Oesterwitz · 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pauloesterwitz/PPTX MCP/AI &amp; SAP Consulting Paul Oesterwitz/assets/icon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02336"/>
            <a:ext cx="752880" cy="5669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02688" y="365760"/>
            <a:ext cx="10110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517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+++ OVERVIEW +++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1502688" y="585216"/>
            <a:ext cx="10110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A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I Built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635508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50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© AI &amp; SAP Consulting Paul Oesterwitz 2026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515600" y="63550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48640" y="11155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self-contained lab that compares six RAG architectures on identical data — same corpus, same retriever, only the layer on top changes.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075688"/>
            <a:ext cx="3444240" cy="1979676"/>
          </a:xfrm>
          <a:prstGeom prst="rect">
            <a:avLst/>
          </a:prstGeom>
          <a:solidFill>
            <a:srgbClr val="F6F2F8"/>
          </a:solidFill>
          <a:ln w="12700">
            <a:solidFill>
              <a:srgbClr val="E4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B143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548640" y="2075688"/>
            <a:ext cx="3444240" cy="91440"/>
          </a:xfrm>
          <a:prstGeom prst="rect">
            <a:avLst/>
          </a:prstGeom>
          <a:solidFill>
            <a:srgbClr val="B5179E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77240" y="2331720"/>
            <a:ext cx="298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A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Six pipelines, one corpus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7240" y="2944368"/>
            <a:ext cx="2987040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PDFs, same retriever — only the technique on top changes, so comparisons stay fair.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77240" y="3671316"/>
            <a:ext cx="298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Controlled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358640" y="2075688"/>
            <a:ext cx="3444240" cy="1979676"/>
          </a:xfrm>
          <a:prstGeom prst="rect">
            <a:avLst/>
          </a:prstGeom>
          <a:solidFill>
            <a:srgbClr val="F6F2F8"/>
          </a:solidFill>
          <a:ln w="12700">
            <a:solidFill>
              <a:srgbClr val="E4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B143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4358640" y="2075688"/>
            <a:ext cx="3444240" cy="91440"/>
          </a:xfrm>
          <a:prstGeom prst="rect">
            <a:avLst/>
          </a:prstGeom>
          <a:solidFill>
            <a:srgbClr val="343F57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4587240" y="2331720"/>
            <a:ext cx="298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A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Hybrid retrieval core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587240" y="2944368"/>
            <a:ext cx="2987040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Dense vectors + BM25, fused — the shared foundation under all six approaches.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587240" y="3671316"/>
            <a:ext cx="298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0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Foundation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168640" y="2075688"/>
            <a:ext cx="3444240" cy="1979676"/>
          </a:xfrm>
          <a:prstGeom prst="rect">
            <a:avLst/>
          </a:prstGeom>
          <a:solidFill>
            <a:srgbClr val="F6F2F8"/>
          </a:solidFill>
          <a:ln w="12700">
            <a:solidFill>
              <a:srgbClr val="E4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B143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8168640" y="2075688"/>
            <a:ext cx="3444240" cy="91440"/>
          </a:xfrm>
          <a:prstGeom prst="rect">
            <a:avLst/>
          </a:prstGeom>
          <a:solidFill>
            <a:srgbClr val="5E0A56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8397240" y="2331720"/>
            <a:ext cx="298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A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Dual LLM backend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397240" y="2944368"/>
            <a:ext cx="2987040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Anthropic Claude (cloud) or Ollama (fully local), switched by one env var.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8397240" y="3671316"/>
            <a:ext cx="298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lock-in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48640" y="4329684"/>
            <a:ext cx="3444240" cy="1979676"/>
          </a:xfrm>
          <a:prstGeom prst="rect">
            <a:avLst/>
          </a:prstGeom>
          <a:solidFill>
            <a:srgbClr val="F6F2F8"/>
          </a:solidFill>
          <a:ln w="12700">
            <a:solidFill>
              <a:srgbClr val="E4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B143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548640" y="4329684"/>
            <a:ext cx="3444240" cy="91440"/>
          </a:xfrm>
          <a:prstGeom prst="rect">
            <a:avLst/>
          </a:prstGeom>
          <a:solidFill>
            <a:srgbClr val="222A3A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777240" y="4585716"/>
            <a:ext cx="298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A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DeepEval scoring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777240" y="5198364"/>
            <a:ext cx="2987040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 synthesized goldens, six quality metrics plus five retrieval metrics.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777240" y="5925312"/>
            <a:ext cx="298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0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358640" y="4329684"/>
            <a:ext cx="3444240" cy="1979676"/>
          </a:xfrm>
          <a:prstGeom prst="rect">
            <a:avLst/>
          </a:prstGeom>
          <a:solidFill>
            <a:srgbClr val="F6F2F8"/>
          </a:solidFill>
          <a:ln w="12700">
            <a:solidFill>
              <a:srgbClr val="E4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B143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4358640" y="4329684"/>
            <a:ext cx="3444240" cy="91440"/>
          </a:xfrm>
          <a:prstGeom prst="rect">
            <a:avLst/>
          </a:prstGeom>
          <a:solidFill>
            <a:srgbClr val="7A0A6E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4587240" y="4585716"/>
            <a:ext cx="298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A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Interactive Vue app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4587240" y="5198364"/>
            <a:ext cx="2987040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Re-embed, chat with any approach, compare scores live — chunks always quoted.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4587240" y="5925312"/>
            <a:ext cx="298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Transparent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8168640" y="4329684"/>
            <a:ext cx="3444240" cy="1979676"/>
          </a:xfrm>
          <a:prstGeom prst="rect">
            <a:avLst/>
          </a:prstGeom>
          <a:solidFill>
            <a:srgbClr val="F6F2F8"/>
          </a:solidFill>
          <a:ln w="12700">
            <a:solidFill>
              <a:srgbClr val="E4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B143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>
            <a:off x="8168640" y="4329684"/>
            <a:ext cx="3444240" cy="91440"/>
          </a:xfrm>
          <a:prstGeom prst="rect">
            <a:avLst/>
          </a:prstGeom>
          <a:solidFill>
            <a:srgbClr val="222A3A"/>
          </a:solidFill>
          <a:ln/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8397240" y="4585716"/>
            <a:ext cx="298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A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 external vector DB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8397240" y="5198364"/>
            <a:ext cx="2987040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In-process NumPy cosine + rank-bm25 — runs on a laptop or one A100.</a:t>
            </a:r>
            <a:endParaRPr lang="en-US" sz="1150" dirty="0"/>
          </a:p>
        </p:txBody>
      </p:sp>
      <p:sp>
        <p:nvSpPr>
          <p:cNvPr id="37" name="Text 34"/>
          <p:cNvSpPr/>
          <p:nvPr/>
        </p:nvSpPr>
        <p:spPr>
          <a:xfrm>
            <a:off x="8397240" y="5925312"/>
            <a:ext cx="298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0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Self-contained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pauloesterwitz/PPTX MCP/AI &amp; SAP Consulting Paul Oesterwitz/assets/icon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02336"/>
            <a:ext cx="752880" cy="5669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02688" y="365760"/>
            <a:ext cx="10110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517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+++ ARCHITECTURE +++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1502688" y="585216"/>
            <a:ext cx="10110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A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Shared Foundation: Hybrid Retrieval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635508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50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© AI &amp; SAP Consulting Paul Oesterwitz 2026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515600" y="63550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534924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B143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548640" y="1463040"/>
            <a:ext cx="5349240" cy="603504"/>
          </a:xfrm>
          <a:prstGeom prst="rect">
            <a:avLst/>
          </a:prstGeom>
          <a:solidFill>
            <a:srgbClr val="222A3A"/>
          </a:solidFill>
          <a:ln/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548640" y="1463040"/>
            <a:ext cx="5349240" cy="54864"/>
          </a:xfrm>
          <a:prstGeom prst="rect">
            <a:avLst/>
          </a:prstGeom>
          <a:solidFill>
            <a:srgbClr val="B5179E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77240" y="1463040"/>
            <a:ext cx="4892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Index time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04672" y="2258568"/>
            <a:ext cx="4837176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PDFs parsed with PyMuPDF; dynamic chunking on paragraph / heading boundaries (min 120 chars).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chunk embedded once — e5-small (384-d) or embeddinggemma (768-d).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Parallel BM25 sparse index built over the same chunks (rank-bm25).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Stored in-process with NumPy + pickle — no Pinecone, Weaviate, or vector server.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Re-embed rebuilds the dense + BM25 indexes together, with a live per-document progress bar.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63640" y="1463040"/>
            <a:ext cx="534924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B143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6263640" y="1463040"/>
            <a:ext cx="5349240" cy="603504"/>
          </a:xfrm>
          <a:prstGeom prst="rect">
            <a:avLst/>
          </a:prstGeom>
          <a:solidFill>
            <a:srgbClr val="7A0A6E"/>
          </a:solidFill>
          <a:ln/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6263640" y="1463040"/>
            <a:ext cx="5349240" cy="54864"/>
          </a:xfrm>
          <a:prstGeom prst="rect">
            <a:avLst/>
          </a:prstGeom>
          <a:solidFill>
            <a:srgbClr val="D9CFE3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492240" y="1463040"/>
            <a:ext cx="4892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Query time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519672" y="2258568"/>
            <a:ext cx="4837176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Embed the query; score every chunk by cosine similarity (dense) and BM25 (sparse).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Fuse the two score lists with a weighted sum (bm25_weight = 0.35).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Take top-k = 5 from a wider candidate pool of 20.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 the chunks verbatim to the LLM as numbered, citable sources.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one retriever powers all six approaches — they differ only in what wraps it.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pauloesterwitz/PPTX MCP/AI &amp; SAP Consulting Paul Oesterwitz/assets/icon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02336"/>
            <a:ext cx="752880" cy="5669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02688" y="365760"/>
            <a:ext cx="10110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517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+++ APPROACHES +++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1502688" y="585216"/>
            <a:ext cx="10110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A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Six RAG Approaches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635508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50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© AI &amp; SAP Consulting Paul Oesterwitz 2026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515600" y="63550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48640" y="11155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six share the hybrid retriever above; each adds one distinct technique on top.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075688"/>
            <a:ext cx="3444240" cy="1979676"/>
          </a:xfrm>
          <a:prstGeom prst="rect">
            <a:avLst/>
          </a:prstGeom>
          <a:solidFill>
            <a:srgbClr val="F6F2F8"/>
          </a:solidFill>
          <a:ln w="12700">
            <a:solidFill>
              <a:srgbClr val="E4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B143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548640" y="2075688"/>
            <a:ext cx="3444240" cy="91440"/>
          </a:xfrm>
          <a:prstGeom prst="rect">
            <a:avLst/>
          </a:prstGeom>
          <a:solidFill>
            <a:srgbClr val="5E0A56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77240" y="2331720"/>
            <a:ext cx="298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A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Plain Hybrid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7240" y="2944368"/>
            <a:ext cx="2987040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Dense + BM25 fusion, nothing else. The clean baseline; strong on single-hop.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77240" y="3671316"/>
            <a:ext cx="298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358640" y="2075688"/>
            <a:ext cx="3444240" cy="1979676"/>
          </a:xfrm>
          <a:prstGeom prst="rect">
            <a:avLst/>
          </a:prstGeom>
          <a:solidFill>
            <a:srgbClr val="F6F2F8"/>
          </a:solidFill>
          <a:ln w="12700">
            <a:solidFill>
              <a:srgbClr val="E4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B143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4358640" y="2075688"/>
            <a:ext cx="3444240" cy="91440"/>
          </a:xfrm>
          <a:prstGeom prst="rect">
            <a:avLst/>
          </a:prstGeom>
          <a:solidFill>
            <a:srgbClr val="222A3A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4587240" y="2331720"/>
            <a:ext cx="298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A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 Reranker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587240" y="2944368"/>
            <a:ext cx="2987040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Jina v2 cross-encoder re-orders a 20-chunk pool before generation.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587240" y="3671316"/>
            <a:ext cx="298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0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ROI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168640" y="2075688"/>
            <a:ext cx="3444240" cy="1979676"/>
          </a:xfrm>
          <a:prstGeom prst="rect">
            <a:avLst/>
          </a:prstGeom>
          <a:solidFill>
            <a:srgbClr val="F6F2F8"/>
          </a:solidFill>
          <a:ln w="12700">
            <a:solidFill>
              <a:srgbClr val="E4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B143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8168640" y="2075688"/>
            <a:ext cx="3444240" cy="91440"/>
          </a:xfrm>
          <a:prstGeom prst="rect">
            <a:avLst/>
          </a:prstGeom>
          <a:solidFill>
            <a:srgbClr val="7A0A6E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8397240" y="2331720"/>
            <a:ext cx="298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A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HyDE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397240" y="2944368"/>
            <a:ext cx="2987040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drafts a hypothetical answer, then retrieves on its embedding.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8397240" y="3671316"/>
            <a:ext cx="298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Query rewrite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48640" y="4329684"/>
            <a:ext cx="3444240" cy="1979676"/>
          </a:xfrm>
          <a:prstGeom prst="rect">
            <a:avLst/>
          </a:prstGeom>
          <a:solidFill>
            <a:srgbClr val="F6F2F8"/>
          </a:solidFill>
          <a:ln w="12700">
            <a:solidFill>
              <a:srgbClr val="E4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B143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548640" y="4329684"/>
            <a:ext cx="3444240" cy="91440"/>
          </a:xfrm>
          <a:prstGeom prst="rect">
            <a:avLst/>
          </a:prstGeom>
          <a:solidFill>
            <a:srgbClr val="222A3A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777240" y="4585716"/>
            <a:ext cx="298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A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Corrective (CRAG)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777240" y="5198364"/>
            <a:ext cx="2987040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Grades retrieved docs; if weak, rewrites the query and re-retrieves.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777240" y="5925312"/>
            <a:ext cx="298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0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Self-checking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358640" y="4329684"/>
            <a:ext cx="3444240" cy="1979676"/>
          </a:xfrm>
          <a:prstGeom prst="rect">
            <a:avLst/>
          </a:prstGeom>
          <a:solidFill>
            <a:srgbClr val="F6F2F8"/>
          </a:solidFill>
          <a:ln w="12700">
            <a:solidFill>
              <a:srgbClr val="E4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B143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4358640" y="4329684"/>
            <a:ext cx="3444240" cy="91440"/>
          </a:xfrm>
          <a:prstGeom prst="rect">
            <a:avLst/>
          </a:prstGeom>
          <a:solidFill>
            <a:srgbClr val="B5179E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4587240" y="4585716"/>
            <a:ext cx="298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A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4587240" y="5198364"/>
            <a:ext cx="2987040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Plans sub-queries, reflects on evidence, loops up to 3 rounds.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4587240" y="5925312"/>
            <a:ext cx="298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Multi-hop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8168640" y="4329684"/>
            <a:ext cx="3444240" cy="1979676"/>
          </a:xfrm>
          <a:prstGeom prst="rect">
            <a:avLst/>
          </a:prstGeom>
          <a:solidFill>
            <a:srgbClr val="F6F2F8"/>
          </a:solidFill>
          <a:ln w="12700">
            <a:solidFill>
              <a:srgbClr val="E4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B143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>
            <a:off x="8168640" y="4329684"/>
            <a:ext cx="3444240" cy="91440"/>
          </a:xfrm>
          <a:prstGeom prst="rect">
            <a:avLst/>
          </a:prstGeom>
          <a:solidFill>
            <a:srgbClr val="343F57"/>
          </a:solidFill>
          <a:ln/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8397240" y="4585716"/>
            <a:ext cx="298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A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GraphRAG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8397240" y="5198364"/>
            <a:ext cx="2987040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Entity knowledge graph + Louvain communities; retrieves by entity links.</a:t>
            </a:r>
            <a:endParaRPr lang="en-US" sz="1150" dirty="0"/>
          </a:p>
        </p:txBody>
      </p:sp>
      <p:sp>
        <p:nvSpPr>
          <p:cNvPr id="37" name="Text 34"/>
          <p:cNvSpPr/>
          <p:nvPr/>
        </p:nvSpPr>
        <p:spPr>
          <a:xfrm>
            <a:off x="8397240" y="5925312"/>
            <a:ext cx="298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0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Structural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pauloesterwitz/PPTX MCP/AI &amp; SAP Consulting Paul Oesterwitz/assets/icon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02336"/>
            <a:ext cx="752880" cy="5669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02688" y="365760"/>
            <a:ext cx="10110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517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+++ IMPLEMENTATION +++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1502688" y="585216"/>
            <a:ext cx="10110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A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the Advanced Pipelines Work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635508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50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© AI &amp; SAP Consulting Paul Oesterwitz 2026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515600" y="63550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534924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B143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548640" y="1463040"/>
            <a:ext cx="5349240" cy="603504"/>
          </a:xfrm>
          <a:prstGeom prst="rect">
            <a:avLst/>
          </a:prstGeom>
          <a:solidFill>
            <a:srgbClr val="222A3A"/>
          </a:solidFill>
          <a:ln/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548640" y="1463040"/>
            <a:ext cx="5349240" cy="54864"/>
          </a:xfrm>
          <a:prstGeom prst="rect">
            <a:avLst/>
          </a:prstGeom>
          <a:solidFill>
            <a:srgbClr val="B5179E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77240" y="1463040"/>
            <a:ext cx="4892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Query-side augmentation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04672" y="2258568"/>
            <a:ext cx="4837176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Reranker — wide recall (20), then a cross-encoder re-scores query + passage jointly. Cascade: Jina v2 → BGE v2 → LLM pointwise.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HyDE — LLM drafts a 4–6 sentence pseudo-answer, embedded as a document vector to close the query-to-answer gap.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Corrective — grades the top-8 (0–1); if fewer than 3 pass 0.5, decomposes into 3 sub-queries, re-retrieves, keeps relevant-only.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three reuse the same hybrid index — only the query vector or candidate pool changes, never the corpus.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63640" y="1463040"/>
            <a:ext cx="534924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B143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6263640" y="1463040"/>
            <a:ext cx="5349240" cy="603504"/>
          </a:xfrm>
          <a:prstGeom prst="rect">
            <a:avLst/>
          </a:prstGeom>
          <a:solidFill>
            <a:srgbClr val="7A0A6E"/>
          </a:solidFill>
          <a:ln/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6263640" y="1463040"/>
            <a:ext cx="5349240" cy="54864"/>
          </a:xfrm>
          <a:prstGeom prst="rect">
            <a:avLst/>
          </a:prstGeom>
          <a:solidFill>
            <a:srgbClr val="D9CFE3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492240" y="1463040"/>
            <a:ext cx="4892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Multi-step &amp; structural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519672" y="2258568"/>
            <a:ext cx="4837176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Agentic — plans 2–3 sub-queries, merges and dedupes hits, reflects 'sufficient?', then up to 2 follow-up rounds.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GraphRAG offline — LLM extracts entities + relations per chunk → networkx graph → Louvain communities → LLM summaries.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GraphRAG query — anchors query entities, expands 1-hop, scores 0.6·dense + 0.4·entity-overlap, hybrid backfill if sparse.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step is logged to a transparency trace — sub-queries, reflections, graph anchors and community summaries.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pauloesterwitz/PPTX MCP/AI &amp; SAP Consulting Paul Oesterwitz/assets/icon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02336"/>
            <a:ext cx="752880" cy="5669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02688" y="365760"/>
            <a:ext cx="10110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517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+++ EVALUATION +++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1502688" y="585216"/>
            <a:ext cx="10110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A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Evaluation Harness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635508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50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© AI &amp; SAP Consulting Paul Oesterwitz 2026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515600" y="63550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48640" y="11155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approach is scored on the same synthesized question set with the same LLM judge.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66928" y="2152416"/>
            <a:ext cx="109728" cy="109728"/>
          </a:xfrm>
          <a:prstGeom prst="rect">
            <a:avLst/>
          </a:prstGeom>
          <a:solidFill>
            <a:srgbClr val="7A0A6E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822960" y="2075688"/>
            <a:ext cx="10789920" cy="534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2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Goldens auto-synthesized by DeepEval's Synthesizer: 50 single-hop (adjacent same-document chunk pairs) + 50 multi-hop (cross-document pairs via cosine).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66928" y="2814848"/>
            <a:ext cx="109728" cy="109728"/>
          </a:xfrm>
          <a:prstGeom prst="rect">
            <a:avLst/>
          </a:prstGeom>
          <a:solidFill>
            <a:srgbClr val="7A0A6E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822960" y="2738120"/>
            <a:ext cx="10789920" cy="534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2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 DeepEval quality metrics: Answer Relevancy, Faithfulness, Contextual Relevancy / Precision / Recall, Correctness (G-Eval) — plus a Composite mean.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66928" y="3477280"/>
            <a:ext cx="109728" cy="109728"/>
          </a:xfrm>
          <a:prstGeom prst="rect">
            <a:avLst/>
          </a:prstGeom>
          <a:solidFill>
            <a:srgbClr val="7A0A6E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822960" y="3400552"/>
            <a:ext cx="10789920" cy="534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2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 custom retrieval metrics: gold-chunk hit rate, gold-doc hit rate, avg latency, avg context chars, avg # contexts.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66928" y="4139712"/>
            <a:ext cx="109728" cy="109728"/>
          </a:xfrm>
          <a:prstGeom prst="rect">
            <a:avLst/>
          </a:prstGeom>
          <a:solidFill>
            <a:srgbClr val="7A0A6E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822960" y="4062984"/>
            <a:ext cx="10789920" cy="534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2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LLM-as-judge via a custom DeepEval wrapper (ClaudeJudge / OllamaJudge) — the same judge across all six approaches.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66928" y="4802144"/>
            <a:ext cx="109728" cy="109728"/>
          </a:xfrm>
          <a:prstGeom prst="rect">
            <a:avLst/>
          </a:prstGeom>
          <a:solidFill>
            <a:srgbClr val="7A0A6E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822960" y="4725416"/>
            <a:ext cx="10789920" cy="534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2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 split by golden type and written incrementally to results.json; the dashboard updates live as each approach finishes.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pauloesterwitz/PPTX MCP/AI &amp; SAP Consulting Paul Oesterwitz/assets/icon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02336"/>
            <a:ext cx="752880" cy="5669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02688" y="365760"/>
            <a:ext cx="10110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517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+++ RESULTS +++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1502688" y="585216"/>
            <a:ext cx="10110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A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Benchmark Results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635508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50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© AI &amp; SAP Consulting Paul Oesterwitz 2026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515600" y="63550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2331720" cy="420624"/>
          </a:xfrm>
          <a:prstGeom prst="rect">
            <a:avLst/>
          </a:prstGeom>
          <a:solidFill>
            <a:srgbClr val="222A3A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658368" y="1463040"/>
            <a:ext cx="2221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880360" y="1463040"/>
            <a:ext cx="2183130" cy="420624"/>
          </a:xfrm>
          <a:prstGeom prst="rect">
            <a:avLst/>
          </a:prstGeom>
          <a:solidFill>
            <a:srgbClr val="343F57"/>
          </a:solidFill>
          <a:ln w="12700">
            <a:solidFill>
              <a:srgbClr val="222A3A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2953512" y="1463040"/>
            <a:ext cx="203682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CF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Composite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63490" y="1463040"/>
            <a:ext cx="2183130" cy="420624"/>
          </a:xfrm>
          <a:prstGeom prst="rect">
            <a:avLst/>
          </a:prstGeom>
          <a:solidFill>
            <a:srgbClr val="343F57"/>
          </a:solidFill>
          <a:ln w="12700">
            <a:solidFill>
              <a:srgbClr val="222A3A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5136642" y="1463040"/>
            <a:ext cx="203682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CF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Gold-chunk hit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246620" y="1463040"/>
            <a:ext cx="2183130" cy="420624"/>
          </a:xfrm>
          <a:prstGeom prst="rect">
            <a:avLst/>
          </a:prstGeom>
          <a:solidFill>
            <a:srgbClr val="343F57"/>
          </a:solidFill>
          <a:ln w="12700">
            <a:solidFill>
              <a:srgbClr val="222A3A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319772" y="1463040"/>
            <a:ext cx="203682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CF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Single-hop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9429750" y="1463040"/>
            <a:ext cx="2183130" cy="420624"/>
          </a:xfrm>
          <a:prstGeom prst="rect">
            <a:avLst/>
          </a:prstGeom>
          <a:solidFill>
            <a:srgbClr val="343F57"/>
          </a:solidFill>
          <a:ln w="12700">
            <a:solidFill>
              <a:srgbClr val="222A3A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9502902" y="1463040"/>
            <a:ext cx="203682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CF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Multi-hop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48640" y="1883664"/>
            <a:ext cx="2331720" cy="676656"/>
          </a:xfrm>
          <a:prstGeom prst="rect">
            <a:avLst/>
          </a:prstGeom>
          <a:solidFill>
            <a:srgbClr val="EEF3FA"/>
          </a:solidFill>
          <a:ln w="6350">
            <a:solidFill>
              <a:srgbClr val="E4DEEC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658368" y="1883664"/>
            <a:ext cx="21671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 + Reranker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2880360" y="1883664"/>
            <a:ext cx="2183130" cy="676656"/>
          </a:xfrm>
          <a:prstGeom prst="rect">
            <a:avLst/>
          </a:prstGeom>
          <a:solidFill>
            <a:srgbClr val="D6F2E4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2953512" y="1883664"/>
            <a:ext cx="203682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6B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0.811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063490" y="1883664"/>
            <a:ext cx="2183130" cy="676656"/>
          </a:xfrm>
          <a:prstGeom prst="rect">
            <a:avLst/>
          </a:prstGeom>
          <a:solidFill>
            <a:srgbClr val="D6F2E4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5136642" y="1883664"/>
            <a:ext cx="203682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6B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94%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7246620" y="1883664"/>
            <a:ext cx="2183130" cy="676656"/>
          </a:xfrm>
          <a:prstGeom prst="rect">
            <a:avLst/>
          </a:prstGeom>
          <a:solidFill>
            <a:srgbClr val="D6F2E4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7319772" y="1883664"/>
            <a:ext cx="203682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6B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0.826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9429750" y="1883664"/>
            <a:ext cx="2183130" cy="676656"/>
          </a:xfrm>
          <a:prstGeom prst="rect">
            <a:avLst/>
          </a:prstGeom>
          <a:solidFill>
            <a:srgbClr val="EAF0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9502902" y="1883664"/>
            <a:ext cx="203682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3D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0.796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48640" y="2560320"/>
            <a:ext cx="2331720" cy="676656"/>
          </a:xfrm>
          <a:prstGeom prst="rect">
            <a:avLst/>
          </a:prstGeom>
          <a:solidFill>
            <a:srgbClr val="F7FAFD"/>
          </a:solidFill>
          <a:ln w="6350">
            <a:solidFill>
              <a:srgbClr val="E4DEEC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658368" y="2560320"/>
            <a:ext cx="21671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Plain Hybrid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2880360" y="2560320"/>
            <a:ext cx="2183130" cy="676656"/>
          </a:xfrm>
          <a:prstGeom prst="rect">
            <a:avLst/>
          </a:prstGeom>
          <a:solidFill>
            <a:srgbClr val="EAF0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2953512" y="2560320"/>
            <a:ext cx="203682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3D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0.808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5063490" y="2560320"/>
            <a:ext cx="2183130" cy="676656"/>
          </a:xfrm>
          <a:prstGeom prst="rect">
            <a:avLst/>
          </a:prstGeom>
          <a:solidFill>
            <a:srgbClr val="EAF0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5136642" y="2560320"/>
            <a:ext cx="203682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3D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93%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7246620" y="2560320"/>
            <a:ext cx="2183130" cy="676656"/>
          </a:xfrm>
          <a:prstGeom prst="rect">
            <a:avLst/>
          </a:prstGeom>
          <a:solidFill>
            <a:srgbClr val="EAF0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7319772" y="2560320"/>
            <a:ext cx="203682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3D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0.816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9429750" y="2560320"/>
            <a:ext cx="2183130" cy="676656"/>
          </a:xfrm>
          <a:prstGeom prst="rect">
            <a:avLst/>
          </a:prstGeom>
          <a:solidFill>
            <a:srgbClr val="EAF0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9502902" y="2560320"/>
            <a:ext cx="203682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3D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0.800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548640" y="3236976"/>
            <a:ext cx="2331720" cy="676656"/>
          </a:xfrm>
          <a:prstGeom prst="rect">
            <a:avLst/>
          </a:prstGeom>
          <a:solidFill>
            <a:srgbClr val="EEF3FA"/>
          </a:solidFill>
          <a:ln w="6350">
            <a:solidFill>
              <a:srgbClr val="E4DEEC"/>
            </a:solidFill>
            <a:prstDash val="solid"/>
          </a:ln>
        </p:spPr>
        <p:txBody>
          <a:bodyPr/>
          <a:p/>
        </p:txBody>
      </p:sp>
      <p:sp>
        <p:nvSpPr>
          <p:cNvPr id="38" name="Text 35"/>
          <p:cNvSpPr/>
          <p:nvPr/>
        </p:nvSpPr>
        <p:spPr>
          <a:xfrm>
            <a:off x="658368" y="3236976"/>
            <a:ext cx="21671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HyDE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2880360" y="3236976"/>
            <a:ext cx="2183130" cy="676656"/>
          </a:xfrm>
          <a:prstGeom prst="rect">
            <a:avLst/>
          </a:prstGeom>
          <a:solidFill>
            <a:srgbClr val="EAF0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/>
          <p:nvPr/>
        </p:nvSpPr>
        <p:spPr>
          <a:xfrm>
            <a:off x="2953512" y="3236976"/>
            <a:ext cx="203682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3D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0.806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5063490" y="3236976"/>
            <a:ext cx="2183130" cy="676656"/>
          </a:xfrm>
          <a:prstGeom prst="rect">
            <a:avLst/>
          </a:prstGeom>
          <a:solidFill>
            <a:srgbClr val="EAF0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2" name="Text 39"/>
          <p:cNvSpPr/>
          <p:nvPr/>
        </p:nvSpPr>
        <p:spPr>
          <a:xfrm>
            <a:off x="5136642" y="3236976"/>
            <a:ext cx="203682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3D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93%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7246620" y="3236976"/>
            <a:ext cx="2183130" cy="676656"/>
          </a:xfrm>
          <a:prstGeom prst="rect">
            <a:avLst/>
          </a:prstGeom>
          <a:solidFill>
            <a:srgbClr val="EAF0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4" name="Text 41"/>
          <p:cNvSpPr/>
          <p:nvPr/>
        </p:nvSpPr>
        <p:spPr>
          <a:xfrm>
            <a:off x="7319772" y="3236976"/>
            <a:ext cx="203682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3D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0.815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9429750" y="3236976"/>
            <a:ext cx="2183130" cy="676656"/>
          </a:xfrm>
          <a:prstGeom prst="rect">
            <a:avLst/>
          </a:prstGeom>
          <a:solidFill>
            <a:srgbClr val="EAF0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6" name="Text 43"/>
          <p:cNvSpPr/>
          <p:nvPr/>
        </p:nvSpPr>
        <p:spPr>
          <a:xfrm>
            <a:off x="9502902" y="3236976"/>
            <a:ext cx="203682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3D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0.798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548640" y="3913632"/>
            <a:ext cx="2331720" cy="676656"/>
          </a:xfrm>
          <a:prstGeom prst="rect">
            <a:avLst/>
          </a:prstGeom>
          <a:solidFill>
            <a:srgbClr val="F7FAFD"/>
          </a:solidFill>
          <a:ln w="6350">
            <a:solidFill>
              <a:srgbClr val="E4DEEC"/>
            </a:solidFill>
            <a:prstDash val="solid"/>
          </a:ln>
        </p:spPr>
        <p:txBody>
          <a:bodyPr/>
          <a:p/>
        </p:txBody>
      </p:sp>
      <p:sp>
        <p:nvSpPr>
          <p:cNvPr id="48" name="Text 45"/>
          <p:cNvSpPr/>
          <p:nvPr/>
        </p:nvSpPr>
        <p:spPr>
          <a:xfrm>
            <a:off x="658368" y="3913632"/>
            <a:ext cx="21671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Agentic RAG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2880360" y="3913632"/>
            <a:ext cx="2183130" cy="676656"/>
          </a:xfrm>
          <a:prstGeom prst="rect">
            <a:avLst/>
          </a:prstGeom>
          <a:solidFill>
            <a:srgbClr val="EAF0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0" name="Text 47"/>
          <p:cNvSpPr/>
          <p:nvPr/>
        </p:nvSpPr>
        <p:spPr>
          <a:xfrm>
            <a:off x="2953512" y="3913632"/>
            <a:ext cx="203682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3D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0.802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5063490" y="3913632"/>
            <a:ext cx="2183130" cy="676656"/>
          </a:xfrm>
          <a:prstGeom prst="rect">
            <a:avLst/>
          </a:prstGeom>
          <a:solidFill>
            <a:srgbClr val="EAF0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2" name="Text 49"/>
          <p:cNvSpPr/>
          <p:nvPr/>
        </p:nvSpPr>
        <p:spPr>
          <a:xfrm>
            <a:off x="5136642" y="3913632"/>
            <a:ext cx="203682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3D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93%</a:t>
            </a:r>
            <a:endParaRPr lang="en-US" sz="900" dirty="0"/>
          </a:p>
        </p:txBody>
      </p:sp>
      <p:sp>
        <p:nvSpPr>
          <p:cNvPr id="53" name="Shape 50"/>
          <p:cNvSpPr/>
          <p:nvPr/>
        </p:nvSpPr>
        <p:spPr>
          <a:xfrm>
            <a:off x="7246620" y="3913632"/>
            <a:ext cx="2183130" cy="676656"/>
          </a:xfrm>
          <a:prstGeom prst="rect">
            <a:avLst/>
          </a:prstGeom>
          <a:solidFill>
            <a:srgbClr val="EAF0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4" name="Text 51"/>
          <p:cNvSpPr/>
          <p:nvPr/>
        </p:nvSpPr>
        <p:spPr>
          <a:xfrm>
            <a:off x="7319772" y="3913632"/>
            <a:ext cx="203682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3D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0.812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9429750" y="3913632"/>
            <a:ext cx="2183130" cy="676656"/>
          </a:xfrm>
          <a:prstGeom prst="rect">
            <a:avLst/>
          </a:prstGeom>
          <a:solidFill>
            <a:srgbClr val="FCEFD2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6" name="Text 53"/>
          <p:cNvSpPr/>
          <p:nvPr/>
        </p:nvSpPr>
        <p:spPr>
          <a:xfrm>
            <a:off x="9502902" y="3913632"/>
            <a:ext cx="203682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5A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0.792</a:t>
            </a:r>
            <a:endParaRPr lang="en-US" sz="900" dirty="0"/>
          </a:p>
        </p:txBody>
      </p:sp>
      <p:sp>
        <p:nvSpPr>
          <p:cNvPr id="57" name="Shape 54"/>
          <p:cNvSpPr/>
          <p:nvPr/>
        </p:nvSpPr>
        <p:spPr>
          <a:xfrm>
            <a:off x="548640" y="4590288"/>
            <a:ext cx="2331720" cy="676656"/>
          </a:xfrm>
          <a:prstGeom prst="rect">
            <a:avLst/>
          </a:prstGeom>
          <a:solidFill>
            <a:srgbClr val="EEF3FA"/>
          </a:solidFill>
          <a:ln w="6350">
            <a:solidFill>
              <a:srgbClr val="E4DEEC"/>
            </a:solidFill>
            <a:prstDash val="solid"/>
          </a:ln>
        </p:spPr>
        <p:txBody>
          <a:bodyPr/>
          <a:p/>
        </p:txBody>
      </p:sp>
      <p:sp>
        <p:nvSpPr>
          <p:cNvPr id="58" name="Text 55"/>
          <p:cNvSpPr/>
          <p:nvPr/>
        </p:nvSpPr>
        <p:spPr>
          <a:xfrm>
            <a:off x="658368" y="4590288"/>
            <a:ext cx="21671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GraphRAG</a:t>
            </a:r>
            <a:endParaRPr lang="en-US" sz="1050" dirty="0"/>
          </a:p>
        </p:txBody>
      </p:sp>
      <p:sp>
        <p:nvSpPr>
          <p:cNvPr id="59" name="Shape 56"/>
          <p:cNvSpPr/>
          <p:nvPr/>
        </p:nvSpPr>
        <p:spPr>
          <a:xfrm>
            <a:off x="2880360" y="4590288"/>
            <a:ext cx="2183130" cy="676656"/>
          </a:xfrm>
          <a:prstGeom prst="rect">
            <a:avLst/>
          </a:prstGeom>
          <a:solidFill>
            <a:srgbClr val="EAF0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0" name="Text 57"/>
          <p:cNvSpPr/>
          <p:nvPr/>
        </p:nvSpPr>
        <p:spPr>
          <a:xfrm>
            <a:off x="2953512" y="4590288"/>
            <a:ext cx="203682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3D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0.802</a:t>
            </a:r>
            <a:endParaRPr lang="en-US" sz="900" dirty="0"/>
          </a:p>
        </p:txBody>
      </p:sp>
      <p:sp>
        <p:nvSpPr>
          <p:cNvPr id="61" name="Shape 58"/>
          <p:cNvSpPr/>
          <p:nvPr/>
        </p:nvSpPr>
        <p:spPr>
          <a:xfrm>
            <a:off x="5063490" y="4590288"/>
            <a:ext cx="2183130" cy="676656"/>
          </a:xfrm>
          <a:prstGeom prst="rect">
            <a:avLst/>
          </a:prstGeom>
          <a:solidFill>
            <a:srgbClr val="EAF0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2" name="Text 59"/>
          <p:cNvSpPr/>
          <p:nvPr/>
        </p:nvSpPr>
        <p:spPr>
          <a:xfrm>
            <a:off x="5136642" y="4590288"/>
            <a:ext cx="203682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3D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92%</a:t>
            </a:r>
            <a:endParaRPr lang="en-US" sz="900" dirty="0"/>
          </a:p>
        </p:txBody>
      </p:sp>
      <p:sp>
        <p:nvSpPr>
          <p:cNvPr id="63" name="Shape 60"/>
          <p:cNvSpPr/>
          <p:nvPr/>
        </p:nvSpPr>
        <p:spPr>
          <a:xfrm>
            <a:off x="7246620" y="4590288"/>
            <a:ext cx="2183130" cy="676656"/>
          </a:xfrm>
          <a:prstGeom prst="rect">
            <a:avLst/>
          </a:prstGeom>
          <a:solidFill>
            <a:srgbClr val="FCEFD2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4" name="Text 61"/>
          <p:cNvSpPr/>
          <p:nvPr/>
        </p:nvSpPr>
        <p:spPr>
          <a:xfrm>
            <a:off x="7319772" y="4590288"/>
            <a:ext cx="203682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5A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0.801</a:t>
            </a:r>
            <a:endParaRPr lang="en-US" sz="900" dirty="0"/>
          </a:p>
        </p:txBody>
      </p:sp>
      <p:sp>
        <p:nvSpPr>
          <p:cNvPr id="65" name="Shape 62"/>
          <p:cNvSpPr/>
          <p:nvPr/>
        </p:nvSpPr>
        <p:spPr>
          <a:xfrm>
            <a:off x="9429750" y="4590288"/>
            <a:ext cx="2183130" cy="676656"/>
          </a:xfrm>
          <a:prstGeom prst="rect">
            <a:avLst/>
          </a:prstGeom>
          <a:solidFill>
            <a:srgbClr val="D6F2E4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6" name="Text 63"/>
          <p:cNvSpPr/>
          <p:nvPr/>
        </p:nvSpPr>
        <p:spPr>
          <a:xfrm>
            <a:off x="9502902" y="4590288"/>
            <a:ext cx="203682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6B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0.803</a:t>
            </a:r>
            <a:endParaRPr lang="en-US" sz="900" dirty="0"/>
          </a:p>
        </p:txBody>
      </p:sp>
      <p:sp>
        <p:nvSpPr>
          <p:cNvPr id="67" name="Shape 64"/>
          <p:cNvSpPr/>
          <p:nvPr/>
        </p:nvSpPr>
        <p:spPr>
          <a:xfrm>
            <a:off x="548640" y="5266944"/>
            <a:ext cx="2331720" cy="676656"/>
          </a:xfrm>
          <a:prstGeom prst="rect">
            <a:avLst/>
          </a:prstGeom>
          <a:solidFill>
            <a:srgbClr val="F7FAFD"/>
          </a:solidFill>
          <a:ln w="6350">
            <a:solidFill>
              <a:srgbClr val="E4DEEC"/>
            </a:solidFill>
            <a:prstDash val="solid"/>
          </a:ln>
        </p:spPr>
        <p:txBody>
          <a:bodyPr/>
          <a:p/>
        </p:txBody>
      </p:sp>
      <p:sp>
        <p:nvSpPr>
          <p:cNvPr id="68" name="Text 65"/>
          <p:cNvSpPr/>
          <p:nvPr/>
        </p:nvSpPr>
        <p:spPr>
          <a:xfrm>
            <a:off x="658368" y="5266944"/>
            <a:ext cx="21671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Corrective RAG</a:t>
            </a:r>
            <a:endParaRPr lang="en-US" sz="1050" dirty="0"/>
          </a:p>
        </p:txBody>
      </p:sp>
      <p:sp>
        <p:nvSpPr>
          <p:cNvPr id="69" name="Shape 66"/>
          <p:cNvSpPr/>
          <p:nvPr/>
        </p:nvSpPr>
        <p:spPr>
          <a:xfrm>
            <a:off x="2880360" y="5266944"/>
            <a:ext cx="2183130" cy="676656"/>
          </a:xfrm>
          <a:prstGeom prst="rect">
            <a:avLst/>
          </a:prstGeom>
          <a:solidFill>
            <a:srgbClr val="EAF0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0" name="Text 67"/>
          <p:cNvSpPr/>
          <p:nvPr/>
        </p:nvSpPr>
        <p:spPr>
          <a:xfrm>
            <a:off x="2953512" y="5266944"/>
            <a:ext cx="203682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3D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0.801</a:t>
            </a:r>
            <a:endParaRPr lang="en-US" sz="900" dirty="0"/>
          </a:p>
        </p:txBody>
      </p:sp>
      <p:sp>
        <p:nvSpPr>
          <p:cNvPr id="71" name="Shape 68"/>
          <p:cNvSpPr/>
          <p:nvPr/>
        </p:nvSpPr>
        <p:spPr>
          <a:xfrm>
            <a:off x="5063490" y="5266944"/>
            <a:ext cx="2183130" cy="676656"/>
          </a:xfrm>
          <a:prstGeom prst="rect">
            <a:avLst/>
          </a:prstGeom>
          <a:solidFill>
            <a:srgbClr val="FBE0E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2" name="Text 69"/>
          <p:cNvSpPr/>
          <p:nvPr/>
        </p:nvSpPr>
        <p:spPr>
          <a:xfrm>
            <a:off x="5136642" y="5266944"/>
            <a:ext cx="203682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22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86%</a:t>
            </a:r>
            <a:endParaRPr lang="en-US" sz="900" dirty="0"/>
          </a:p>
        </p:txBody>
      </p:sp>
      <p:sp>
        <p:nvSpPr>
          <p:cNvPr id="73" name="Shape 70"/>
          <p:cNvSpPr/>
          <p:nvPr/>
        </p:nvSpPr>
        <p:spPr>
          <a:xfrm>
            <a:off x="7246620" y="5266944"/>
            <a:ext cx="2183130" cy="676656"/>
          </a:xfrm>
          <a:prstGeom prst="rect">
            <a:avLst/>
          </a:prstGeom>
          <a:solidFill>
            <a:srgbClr val="EAF0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4" name="Text 71"/>
          <p:cNvSpPr/>
          <p:nvPr/>
        </p:nvSpPr>
        <p:spPr>
          <a:xfrm>
            <a:off x="7319772" y="5266944"/>
            <a:ext cx="203682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3D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0.818</a:t>
            </a:r>
            <a:endParaRPr lang="en-US" sz="900" dirty="0"/>
          </a:p>
        </p:txBody>
      </p:sp>
      <p:sp>
        <p:nvSpPr>
          <p:cNvPr id="75" name="Shape 72"/>
          <p:cNvSpPr/>
          <p:nvPr/>
        </p:nvSpPr>
        <p:spPr>
          <a:xfrm>
            <a:off x="9429750" y="5266944"/>
            <a:ext cx="2183130" cy="676656"/>
          </a:xfrm>
          <a:prstGeom prst="rect">
            <a:avLst/>
          </a:prstGeom>
          <a:solidFill>
            <a:srgbClr val="FCEFD2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6" name="Text 73"/>
          <p:cNvSpPr/>
          <p:nvPr/>
        </p:nvSpPr>
        <p:spPr>
          <a:xfrm>
            <a:off x="9502902" y="5266944"/>
            <a:ext cx="203682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5A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0.785</a:t>
            </a:r>
            <a:endParaRPr lang="en-US" sz="900" dirty="0"/>
          </a:p>
        </p:txBody>
      </p:sp>
      <p:sp>
        <p:nvSpPr>
          <p:cNvPr id="77" name="Shape 74"/>
          <p:cNvSpPr/>
          <p:nvPr/>
        </p:nvSpPr>
        <p:spPr>
          <a:xfrm>
            <a:off x="548640" y="6199632"/>
            <a:ext cx="201168" cy="201168"/>
          </a:xfrm>
          <a:prstGeom prst="rect">
            <a:avLst/>
          </a:prstGeom>
          <a:solidFill>
            <a:srgbClr val="D6F2E4"/>
          </a:solidFill>
          <a:ln w="6350">
            <a:solidFill>
              <a:srgbClr val="E4DEEC"/>
            </a:solidFill>
            <a:prstDash val="solid"/>
          </a:ln>
        </p:spPr>
        <p:txBody>
          <a:bodyPr/>
          <a:p/>
        </p:txBody>
      </p:sp>
      <p:sp>
        <p:nvSpPr>
          <p:cNvPr id="78" name="Text 75"/>
          <p:cNvSpPr/>
          <p:nvPr/>
        </p:nvSpPr>
        <p:spPr>
          <a:xfrm>
            <a:off x="795528" y="616305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</a:t>
            </a:r>
            <a:endParaRPr lang="en-US" sz="900" dirty="0"/>
          </a:p>
        </p:txBody>
      </p:sp>
      <p:sp>
        <p:nvSpPr>
          <p:cNvPr id="79" name="Shape 76"/>
          <p:cNvSpPr/>
          <p:nvPr/>
        </p:nvSpPr>
        <p:spPr>
          <a:xfrm>
            <a:off x="2560320" y="6199632"/>
            <a:ext cx="201168" cy="201168"/>
          </a:xfrm>
          <a:prstGeom prst="rect">
            <a:avLst/>
          </a:prstGeom>
          <a:solidFill>
            <a:srgbClr val="FCEFD2"/>
          </a:solidFill>
          <a:ln w="6350">
            <a:solidFill>
              <a:srgbClr val="E4DEEC"/>
            </a:solidFill>
            <a:prstDash val="solid"/>
          </a:ln>
        </p:spPr>
        <p:txBody>
          <a:bodyPr/>
          <a:p/>
        </p:txBody>
      </p:sp>
      <p:sp>
        <p:nvSpPr>
          <p:cNvPr id="80" name="Text 77"/>
          <p:cNvSpPr/>
          <p:nvPr/>
        </p:nvSpPr>
        <p:spPr>
          <a:xfrm>
            <a:off x="2807208" y="616305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Partial / Medium</a:t>
            </a:r>
            <a:endParaRPr lang="en-US" sz="900" dirty="0"/>
          </a:p>
        </p:txBody>
      </p:sp>
      <p:sp>
        <p:nvSpPr>
          <p:cNvPr id="81" name="Shape 78"/>
          <p:cNvSpPr/>
          <p:nvPr/>
        </p:nvSpPr>
        <p:spPr>
          <a:xfrm>
            <a:off x="4572000" y="6199632"/>
            <a:ext cx="201168" cy="201168"/>
          </a:xfrm>
          <a:prstGeom prst="rect">
            <a:avLst/>
          </a:prstGeom>
          <a:solidFill>
            <a:srgbClr val="FBE0E0"/>
          </a:solidFill>
          <a:ln w="6350">
            <a:solidFill>
              <a:srgbClr val="E4DEEC"/>
            </a:solidFill>
            <a:prstDash val="solid"/>
          </a:ln>
        </p:spPr>
        <p:txBody>
          <a:bodyPr/>
          <a:p/>
        </p:txBody>
      </p:sp>
      <p:sp>
        <p:nvSpPr>
          <p:cNvPr id="82" name="Text 79"/>
          <p:cNvSpPr/>
          <p:nvPr/>
        </p:nvSpPr>
        <p:spPr>
          <a:xfrm>
            <a:off x="4818888" y="616305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Limited / None</a:t>
            </a:r>
            <a:endParaRPr lang="en-US" sz="900" dirty="0"/>
          </a:p>
        </p:txBody>
      </p:sp>
      <p:sp>
        <p:nvSpPr>
          <p:cNvPr id="83" name="Text 80"/>
          <p:cNvSpPr/>
          <p:nvPr/>
        </p:nvSpPr>
        <p:spPr>
          <a:xfrm>
            <a:off x="6583680" y="616305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Green leads its column · amber trails the field · red = notable drop.   100 goldens · qwen3.6:35b judge · 768-d embeddings · run locally on one A100.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pauloesterwitz/PPTX MCP/AI &amp; SAP Consulting Paul Oesterwitz/assets/icon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02336"/>
            <a:ext cx="752880" cy="5669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02688" y="365760"/>
            <a:ext cx="10110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517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+++ FINDINGS +++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1502688" y="585216"/>
            <a:ext cx="10110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A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the Numbers Say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635508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50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© AI &amp; SAP Consulting Paul Oesterwitz 2026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515600" y="63550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66928" y="1539768"/>
            <a:ext cx="109728" cy="109728"/>
          </a:xfrm>
          <a:prstGeom prst="rect">
            <a:avLst/>
          </a:prstGeom>
          <a:solidFill>
            <a:srgbClr val="7A0A6E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22960" y="1463040"/>
            <a:ext cx="10789920" cy="534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2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Reranker wins overall (0.811): the Jina cross-encoder lifts Contextual Precision (+0.02) and G-Eval correctness (+0.024) with no recall loss — best ROI in the lab.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66928" y="2202200"/>
            <a:ext cx="109728" cy="109728"/>
          </a:xfrm>
          <a:prstGeom prst="rect">
            <a:avLst/>
          </a:prstGeom>
          <a:solidFill>
            <a:srgbClr val="7A0A6E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822960" y="2125472"/>
            <a:ext cx="10789920" cy="534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2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beats complex on single-hop: plain hybrid (0.816) edges agentic; CRAG's grader sometimes discards the gold chunk, dropping its hit rate to 86%.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66928" y="2864632"/>
            <a:ext cx="109728" cy="109728"/>
          </a:xfrm>
          <a:prstGeom prst="rect">
            <a:avLst/>
          </a:prstGeom>
          <a:solidFill>
            <a:srgbClr val="7A0A6E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822960" y="2787904"/>
            <a:ext cx="10789920" cy="534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2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GraphRAG wins multi-hop (0.803): entity links surface cross-document connections that pure chunk similarity misses.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66928" y="3527064"/>
            <a:ext cx="109728" cy="109728"/>
          </a:xfrm>
          <a:prstGeom prst="rect">
            <a:avLst/>
          </a:prstGeom>
          <a:solidFill>
            <a:srgbClr val="7A0A6E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822960" y="3450336"/>
            <a:ext cx="10789920" cy="534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2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six land within 0.010 composite — the hybrid BM25 + dense baseline is strong; question type matters more than pipeline complexity.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66928" y="4189496"/>
            <a:ext cx="109728" cy="109728"/>
          </a:xfrm>
          <a:prstGeom prst="rect">
            <a:avLst/>
          </a:prstGeom>
          <a:solidFill>
            <a:srgbClr val="7A0A6E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822960" y="4112768"/>
            <a:ext cx="10789920" cy="29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2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Takeaway: add a reranker first; reach for agentic / graph only when questions are genuinely multi-hop.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pauloesterwitz/PPTX MCP/AI &amp; SAP Consulting Paul Oesterwitz/assets/icon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02336"/>
            <a:ext cx="752880" cy="5669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02688" y="365760"/>
            <a:ext cx="10110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517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+++ THE APP +++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1502688" y="585216"/>
            <a:ext cx="10110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A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Interactive Dashboard &amp; Ops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635508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50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© AI &amp; SAP Consulting Paul Oesterwitz 2026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515600" y="63550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48640" y="11155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whole lab runs from one Vue dashboard and a matching CLI — no notebooks, no manual wiring.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075688"/>
            <a:ext cx="3444240" cy="1979676"/>
          </a:xfrm>
          <a:prstGeom prst="rect">
            <a:avLst/>
          </a:prstGeom>
          <a:solidFill>
            <a:srgbClr val="F6F2F8"/>
          </a:solidFill>
          <a:ln w="12700">
            <a:solidFill>
              <a:srgbClr val="E4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B143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548640" y="2075688"/>
            <a:ext cx="3444240" cy="91440"/>
          </a:xfrm>
          <a:prstGeom prst="rect">
            <a:avLst/>
          </a:prstGeom>
          <a:solidFill>
            <a:srgbClr val="343F57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77240" y="2331720"/>
            <a:ext cx="298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A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Index &amp; Eval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7240" y="2944368"/>
            <a:ext cx="2987040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Re-embed the corpus, build the graph, synth goldens and run DeepEval — each step with a live progress bar.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77240" y="3671316"/>
            <a:ext cx="298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Orchestrate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358640" y="2075688"/>
            <a:ext cx="3444240" cy="1979676"/>
          </a:xfrm>
          <a:prstGeom prst="rect">
            <a:avLst/>
          </a:prstGeom>
          <a:solidFill>
            <a:srgbClr val="F6F2F8"/>
          </a:solidFill>
          <a:ln w="12700">
            <a:solidFill>
              <a:srgbClr val="E4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B143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4358640" y="2075688"/>
            <a:ext cx="3444240" cy="91440"/>
          </a:xfrm>
          <a:prstGeom prst="rect">
            <a:avLst/>
          </a:prstGeom>
          <a:solidFill>
            <a:srgbClr val="5E0A56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4587240" y="2331720"/>
            <a:ext cx="298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A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Chat / Explore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587240" y="2944368"/>
            <a:ext cx="2987040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Query any approach; see the answer plus every retrieved chunk quoted with score, page range and citation index.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587240" y="3671316"/>
            <a:ext cx="298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0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Inspect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168640" y="2075688"/>
            <a:ext cx="3444240" cy="1979676"/>
          </a:xfrm>
          <a:prstGeom prst="rect">
            <a:avLst/>
          </a:prstGeom>
          <a:solidFill>
            <a:srgbClr val="F6F2F8"/>
          </a:solidFill>
          <a:ln w="12700">
            <a:solidFill>
              <a:srgbClr val="E4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B143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8168640" y="2075688"/>
            <a:ext cx="3444240" cy="91440"/>
          </a:xfrm>
          <a:prstGeom prst="rect">
            <a:avLst/>
          </a:prstGeom>
          <a:solidFill>
            <a:srgbClr val="222A3A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8397240" y="2331720"/>
            <a:ext cx="298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A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DeepEval Dashboard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397240" y="2944368"/>
            <a:ext cx="2987040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Radar across all metrics, per-metric bars, a summary table, and per-question score drill-down by approach.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8397240" y="3671316"/>
            <a:ext cx="298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48640" y="4329684"/>
            <a:ext cx="3444240" cy="1979676"/>
          </a:xfrm>
          <a:prstGeom prst="rect">
            <a:avLst/>
          </a:prstGeom>
          <a:solidFill>
            <a:srgbClr val="F6F2F8"/>
          </a:solidFill>
          <a:ln w="12700">
            <a:solidFill>
              <a:srgbClr val="E4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B143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548640" y="4329684"/>
            <a:ext cx="3444240" cy="91440"/>
          </a:xfrm>
          <a:prstGeom prst="rect">
            <a:avLst/>
          </a:prstGeom>
          <a:solidFill>
            <a:srgbClr val="7A0A6E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777240" y="4585716"/>
            <a:ext cx="298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A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Goldens browser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777240" y="5198364"/>
            <a:ext cx="2987040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Browse the synthesized eval set — question, expected answer, source document and the exact gold chunks.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777240" y="5925312"/>
            <a:ext cx="298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0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358640" y="4329684"/>
            <a:ext cx="3444240" cy="1979676"/>
          </a:xfrm>
          <a:prstGeom prst="rect">
            <a:avLst/>
          </a:prstGeom>
          <a:solidFill>
            <a:srgbClr val="F6F2F8"/>
          </a:solidFill>
          <a:ln w="12700">
            <a:solidFill>
              <a:srgbClr val="E4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B143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4358640" y="4329684"/>
            <a:ext cx="3444240" cy="91440"/>
          </a:xfrm>
          <a:prstGeom prst="rect">
            <a:avLst/>
          </a:prstGeom>
          <a:solidFill>
            <a:srgbClr val="222A3A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4587240" y="4585716"/>
            <a:ext cx="298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A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One-process serving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4587240" y="5198364"/>
            <a:ext cx="2987040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single FastAPI process serves the built Vue app at / and the API at /api — nothing else to deploy.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4587240" y="5925312"/>
            <a:ext cx="298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8168640" y="4329684"/>
            <a:ext cx="3444240" cy="1979676"/>
          </a:xfrm>
          <a:prstGeom prst="rect">
            <a:avLst/>
          </a:prstGeom>
          <a:solidFill>
            <a:srgbClr val="F6F2F8"/>
          </a:solidFill>
          <a:ln w="12700">
            <a:solidFill>
              <a:srgbClr val="E4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B143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>
            <a:off x="8168640" y="4329684"/>
            <a:ext cx="3444240" cy="91440"/>
          </a:xfrm>
          <a:prstGeom prst="rect">
            <a:avLst/>
          </a:prstGeom>
          <a:solidFill>
            <a:srgbClr val="B5179E"/>
          </a:solidFill>
          <a:ln/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8397240" y="4585716"/>
            <a:ext cx="298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A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CLI + guardrails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8397240" y="5198364"/>
            <a:ext cx="2987040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Mirror CLI (embed · graph · synth · eval · all · status) and a per-model token-bucket rate limiter.</a:t>
            </a:r>
            <a:endParaRPr lang="en-US" sz="1150" dirty="0"/>
          </a:p>
        </p:txBody>
      </p:sp>
      <p:sp>
        <p:nvSpPr>
          <p:cNvPr id="37" name="Text 34"/>
          <p:cNvSpPr/>
          <p:nvPr/>
        </p:nvSpPr>
        <p:spPr>
          <a:xfrm>
            <a:off x="8397240" y="5925312"/>
            <a:ext cx="298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0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2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pauloesterwitz/PPTX MCP/AI &amp; SAP Consulting Paul Oesterwitz/assets/logo-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457200"/>
            <a:ext cx="1920240" cy="57389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1371600"/>
            <a:ext cx="118872" cy="1280160"/>
          </a:xfrm>
          <a:prstGeom prst="rect">
            <a:avLst/>
          </a:prstGeom>
          <a:solidFill>
            <a:srgbClr val="B5179E"/>
          </a:solidFill>
          <a:ln/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868680" y="13716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From PoC to Production RAG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886968" y="2446975"/>
            <a:ext cx="109728" cy="109728"/>
          </a:xfrm>
          <a:prstGeom prst="rect">
            <a:avLst/>
          </a:prstGeom>
          <a:solidFill>
            <a:srgbClr val="7A0A6E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" y="2377440"/>
            <a:ext cx="10012680" cy="2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E8EA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 architectures, one honest benchmark — so the pipeline you ship is the one your data actually rewards.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886968" y="2847152"/>
            <a:ext cx="109728" cy="109728"/>
          </a:xfrm>
          <a:prstGeom prst="rect">
            <a:avLst/>
          </a:prstGeom>
          <a:solidFill>
            <a:srgbClr val="7A0A6E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143000" y="2777617"/>
            <a:ext cx="10012680" cy="2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E8EA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Let's bring evaluated, production-grade RAG to your SAP landscape.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868680" y="5212080"/>
            <a:ext cx="10515600" cy="10973"/>
          </a:xfrm>
          <a:prstGeom prst="rect">
            <a:avLst/>
          </a:prstGeom>
          <a:solidFill>
            <a:srgbClr val="343F57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868680" y="53492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B6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oesterwitz-consulting.de   ·   linkedin.com/in/paul-oesterwitz-078a1a68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48640" y="635508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50" kern="0" dirty="0">
                <a:solidFill>
                  <a:srgbClr val="AEB6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© AI &amp; SAP Consulting Paul Oesterwitz 2026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0515600" y="63550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EB6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02920"/>
            <a:ext cx="874312" cy="6583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81328" y="438912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200">
                <a:solidFill>
                  <a:srgbClr val="B5179E"/>
                </a:solidFill>
                <a:latin typeface="Inter"/>
              </a:rPr>
              <a:t>+++ USER INTERFACE +++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694944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222A3A"/>
                </a:solidFill>
                <a:latin typeface="Space Grotesk"/>
              </a:rPr>
              <a:t>Inside the Vue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40690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100" b="0" i="0">
                <a:solidFill>
                  <a:srgbClr val="7A0A6E"/>
                </a:solidFill>
                <a:latin typeface="Inter"/>
              </a:rPr>
              <a:t>■  </a:t>
            </a:r>
            <a:r>
              <a:rPr sz="1250" b="0" i="0">
                <a:solidFill>
                  <a:srgbClr val="222A3A"/>
                </a:solidFill>
                <a:latin typeface="Inter"/>
              </a:rPr>
              <a:t>Tab bar — Index &amp; Eval · Chat / Explore · DeepEval Dashboard · Goldens.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100" b="0" i="0">
                <a:solidFill>
                  <a:srgbClr val="7A0A6E"/>
                </a:solidFill>
                <a:latin typeface="Inter"/>
              </a:rPr>
              <a:t>■  </a:t>
            </a:r>
            <a:r>
              <a:rPr sz="1250" b="0" i="0">
                <a:solidFill>
                  <a:srgbClr val="222A3A"/>
                </a:solidFill>
                <a:latin typeface="Inter"/>
              </a:rPr>
              <a:t>Winner badge — highest composite score (RAG + Reranker).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100" b="0" i="0">
                <a:solidFill>
                  <a:srgbClr val="7A0A6E"/>
                </a:solidFill>
                <a:latin typeface="Inter"/>
              </a:rPr>
              <a:t>■  </a:t>
            </a:r>
            <a:r>
              <a:rPr sz="1250" b="0" i="0">
                <a:solidFill>
                  <a:srgbClr val="222A3A"/>
                </a:solidFill>
                <a:latin typeface="Inter"/>
              </a:rPr>
              <a:t>Metric table — 6 approaches × 6 DeepEval metrics, best-in-column highlighted.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100" b="0" i="0">
                <a:solidFill>
                  <a:srgbClr val="7A0A6E"/>
                </a:solidFill>
                <a:latin typeface="Inter"/>
              </a:rPr>
              <a:t>■  </a:t>
            </a:r>
            <a:r>
              <a:rPr sz="1250" b="0" i="0">
                <a:solidFill>
                  <a:srgbClr val="222A3A"/>
                </a:solidFill>
                <a:latin typeface="Inter"/>
              </a:rPr>
              <a:t>Metric-profile radar — every approach overlaid on one spider plot.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100" b="0" i="0">
                <a:solidFill>
                  <a:srgbClr val="7A0A6E"/>
                </a:solidFill>
                <a:latin typeface="Inter"/>
              </a:rPr>
              <a:t>■  </a:t>
            </a:r>
            <a:r>
              <a:rPr sz="1250" b="0" i="0">
                <a:solidFill>
                  <a:srgbClr val="222A3A"/>
                </a:solidFill>
                <a:latin typeface="Inter"/>
              </a:rPr>
              <a:t>Composite bars — side-by-side score comparison across approaches.</a:t>
            </a:r>
          </a:p>
        </p:txBody>
      </p:sp>
      <p:pic>
        <p:nvPicPr>
          <p:cNvPr id="6" name="Picture 5" descr="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1810512"/>
            <a:ext cx="6382512" cy="4398698"/>
          </a:xfrm>
          <a:prstGeom prst="rect">
            <a:avLst/>
          </a:prstGeom>
          <a:ln w="12700">
            <a:solidFill>
              <a:srgbClr val="E4DEEC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074920" y="6318938"/>
            <a:ext cx="63825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6B7280"/>
                </a:solidFill>
                <a:latin typeface="Inter"/>
              </a:rPr>
              <a:t>The DeepEval Dashboard — one of the app's four tabs.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6272784"/>
            <a:ext cx="11094415" cy="0"/>
          </a:xfrm>
          <a:prstGeom prst="line">
            <a:avLst/>
          </a:prstGeom>
          <a:ln w="9525">
            <a:solidFill>
              <a:srgbClr val="E4DE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3093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Inter"/>
              </a:rPr>
              <a:t>© AI &amp; SAP Consulting Paul Oesterwitz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309360"/>
            <a:ext cx="1124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&amp; SAP Consulting Paul Oesterwitz</dc:title>
  <dc:subject>PptxGenJS Presentation</dc:subject>
  <dc:creator>AI &amp; SAP Consulting Paul Oesterwitz</dc:creator>
  <cp:lastModifiedBy>AI &amp; SAP Consulting Paul Oesterwitz</cp:lastModifiedBy>
  <cp:revision>1</cp:revision>
  <dcterms:created xsi:type="dcterms:W3CDTF">2026-06-15T12:10:24Z</dcterms:created>
  <dcterms:modified xsi:type="dcterms:W3CDTF">2026-06-15T12:10:24Z</dcterms:modified>
</cp:coreProperties>
</file>